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 encodes https://rejista-ten.vercel.app/register?src=booth-01 — error-correction H with a full quiet zone, so it survives projection and print. Vector versions live in public/print/. Demonstration build: no payment is taken and nothing is filed with the government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present these as settled. Verifying them against SMEDAN/NBS is an open item. A wrong number on a trust slide costs more than a missing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 and important: an earlier version of the pitch claimed agents charge 2-4x. Once the government's own fee is added to both sides, the totals overlap. Do not reinstate the price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slide. Investors have seen a hundred decks that hide the killer risk. Leading with it is the differentiator, and it is also just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3737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Rejista · investor deck · Pascal, Omar, Bello, Olu and Shamin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Rejista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21762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5D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in ten Nigerian businesses have no papers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66928" y="27889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C3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register them with the Corporate Affairs Commission, in the language they actually speak, for a flat fee they can see before they pay.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3703320"/>
            <a:ext cx="3474720" cy="420624"/>
          </a:xfrm>
          <a:prstGeom prst="roundRect">
            <a:avLst>
              <a:gd name="adj" fmla="val 15217"/>
            </a:avLst>
          </a:prstGeom>
          <a:solidFill>
            <a:srgbClr val="2A3568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70332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· pilot: Balogun market, Lagos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315968"/>
            <a:ext cx="7498080" cy="713232"/>
          </a:xfrm>
          <a:prstGeom prst="roundRect">
            <a:avLst>
              <a:gd name="adj" fmla="val 8974"/>
            </a:avLst>
          </a:prstGeom>
          <a:solidFill>
            <a:srgbClr val="2A3568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315968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build  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payment is taken and nothing is filed with the government yet.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52303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Pascal, Omar, Bello, Olu and Shamin · e-Governance Practicum (ICT4D) · 1 August 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49640" y="1234440"/>
            <a:ext cx="3090672" cy="3794760"/>
          </a:xfrm>
          <a:prstGeom prst="roundRect">
            <a:avLst>
              <a:gd name="adj" fmla="val 26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0" descr="/mnt/user-data/uploads/ICT4D-MarketResearch/public/print/rejista-qr-black@2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3416" y="1536192"/>
            <a:ext cx="2103120" cy="21031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549640" y="376732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it now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805672" y="4114800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opens the real registration form — the same one a trader in Balogun market would use.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3737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Rejista · investor deck · Pascal, Omar, Bello, Olu and Shamin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188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in ten Nigerian businesses are invisible to banks and buyers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with the Corporate Affairs Commission (CAC) is what makes a business visible.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2926080" cy="2377440"/>
          </a:xfrm>
          <a:prstGeom prst="roundRect">
            <a:avLst>
              <a:gd name="adj" fmla="val 3462"/>
            </a:avLst>
          </a:prstGeom>
          <a:solidFill>
            <a:srgbClr val="E8EAF3"/>
          </a:solidFill>
          <a:ln w="9525">
            <a:solidFill>
              <a:srgbClr val="C9CE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084832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04672" y="2871216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in Nigeria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" y="3675888"/>
            <a:ext cx="2450592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78561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SMEDAN/NBS — to be verified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30168" y="1847088"/>
            <a:ext cx="2926080" cy="2377440"/>
          </a:xfrm>
          <a:prstGeom prst="roundRect">
            <a:avLst>
              <a:gd name="adj" fmla="val 3462"/>
            </a:avLst>
          </a:prstGeom>
          <a:solidFill>
            <a:srgbClr val="E8EAF3"/>
          </a:solidFill>
          <a:ln w="9525">
            <a:solidFill>
              <a:srgbClr val="C9C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7912" y="2084832"/>
            <a:ext cx="2450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in 10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867912" y="2871216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them unregistered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867912" y="3675888"/>
            <a:ext cx="2450592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7912" y="378561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SMEDAN/NBS — to be verified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693408" y="1847088"/>
            <a:ext cx="4839919" cy="2377440"/>
          </a:xfrm>
          <a:prstGeom prst="roundRect">
            <a:avLst>
              <a:gd name="adj" fmla="val 3462"/>
            </a:avLst>
          </a:prstGeom>
          <a:solidFill>
            <a:srgbClr val="E8EAF3"/>
          </a:solidFill>
          <a:ln w="9525">
            <a:solidFill>
              <a:srgbClr val="C9CE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31152" y="2084832"/>
            <a:ext cx="4364431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banks, government and big buyers — the register is the door, and they are not on it.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31152" y="3675888"/>
            <a:ext cx="4364431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3785616"/>
            <a:ext cx="43644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consequence, not a survey figure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572000"/>
            <a:ext cx="11057839" cy="786384"/>
          </a:xfrm>
          <a:prstGeom prst="roundRect">
            <a:avLst>
              <a:gd name="adj" fmla="val 8140"/>
            </a:avLst>
          </a:prstGeom>
          <a:solidFill>
            <a:srgbClr val="E8EAF3"/>
          </a:solidFill>
          <a:ln w="12700">
            <a:solidFill>
              <a:srgbClr val="E8EA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572000"/>
            <a:ext cx="1050919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settled yet.  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figures are open items until they are checked against SMEDAN/NBS. A wrong number on a trust slide costs more than a missing one.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610819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SMEDAN/NBS national MSME survey — both figures to be verified before this deck is shown to anyone.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3737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Rejista · investor deck · Pascal, Omar, Bello, Olu and Shamin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188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is not mainly a cost problem — it is an uncertainty problem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4023360" cy="3291840"/>
          </a:xfrm>
          <a:prstGeom prst="roundRect">
            <a:avLst>
              <a:gd name="adj" fmla="val 2500"/>
            </a:avLst>
          </a:prstGeom>
          <a:solidFill>
            <a:srgbClr val="E8EAF3"/>
          </a:solidFill>
          <a:ln w="9525">
            <a:solidFill>
              <a:srgbClr val="C9C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73736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way 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04825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owner is choosing between today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395728"/>
            <a:ext cx="3547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who charges what they feel like, takes as long as they take, and stops answering the phone.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" y="3456432"/>
            <a:ext cx="3547872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611880"/>
            <a:ext cx="3547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is not the barrier. Not knowing is.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858207" y="1517904"/>
            <a:ext cx="6766560" cy="384048"/>
          </a:xfrm>
          <a:prstGeom prst="roundRect">
            <a:avLst>
              <a:gd name="adj" fmla="val 11905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7935" y="1517904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88175" y="1517904"/>
            <a:ext cx="4626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owner cannot 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58207" y="1901952"/>
            <a:ext cx="6766560" cy="969264"/>
          </a:xfrm>
          <a:prstGeom prst="rect">
            <a:avLst/>
          </a:prstGeom>
          <a:solidFill>
            <a:srgbClr val="E8EAF3"/>
          </a:solidFill>
          <a:ln w="12700">
            <a:solidFill>
              <a:srgbClr val="E8EA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7935" y="1901952"/>
            <a:ext cx="17007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88175" y="1901952"/>
            <a:ext cx="46268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know the price up front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58207" y="2860243"/>
            <a:ext cx="6766560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58207" y="2871216"/>
            <a:ext cx="676656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7935" y="2871216"/>
            <a:ext cx="17007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88175" y="2871216"/>
            <a:ext cx="46268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see whether anything is happening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58207" y="3829507"/>
            <a:ext cx="6766560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58207" y="3840480"/>
            <a:ext cx="6766560" cy="969264"/>
          </a:xfrm>
          <a:prstGeom prst="rect">
            <a:avLst/>
          </a:prstGeom>
          <a:solidFill>
            <a:srgbClr val="E8EAF3"/>
          </a:solidFill>
          <a:ln w="12700">
            <a:solidFill>
              <a:srgbClr val="E8EA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7935" y="3840480"/>
            <a:ext cx="17007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Recourse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88175" y="3840480"/>
            <a:ext cx="46268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no recourse if it fails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58207" y="4798771"/>
            <a:ext cx="6766560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5138928"/>
            <a:ext cx="11057839" cy="694944"/>
          </a:xfrm>
          <a:prstGeom prst="roundRect">
            <a:avLst>
              <a:gd name="adj" fmla="val 9211"/>
            </a:avLst>
          </a:prstGeom>
          <a:solidFill>
            <a:srgbClr val="E8EAF3"/>
          </a:solidFill>
          <a:ln w="12700">
            <a:solidFill>
              <a:srgbClr val="E8EA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5138928"/>
            <a:ext cx="1050919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unknowns, not a price tag.  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stay out because they cannot see the price, the progress, or the recourse.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3737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Rejista · investor deck · Pascal, Omar, Bello, Olu and Shamin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188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verify, grow — the applicant's part takes about ten minutes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3429914" cy="2926080"/>
          </a:xfrm>
          <a:prstGeom prst="roundRect">
            <a:avLst>
              <a:gd name="adj" fmla="val 2813"/>
            </a:avLst>
          </a:prstGeom>
          <a:solidFill>
            <a:srgbClr val="E8EAF3"/>
          </a:solidFill>
          <a:ln w="9525">
            <a:solidFill>
              <a:srgbClr val="C9CE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17904"/>
            <a:ext cx="3429914" cy="822960"/>
          </a:xfrm>
          <a:prstGeom prst="roundRect">
            <a:avLst>
              <a:gd name="adj" fmla="val 10000"/>
            </a:avLst>
          </a:prstGeom>
          <a:solidFill>
            <a:srgbClr val="E8EAF3"/>
          </a:solidFill>
          <a:ln w="12700">
            <a:solidFill>
              <a:srgbClr val="E8EA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737360"/>
            <a:ext cx="384048" cy="384048"/>
          </a:xfrm>
          <a:prstGeom prst="ellipse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80160" y="1645920"/>
            <a:ext cx="2515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questions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1975104"/>
            <a:ext cx="2515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· on their own phone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" y="2487168"/>
            <a:ext cx="295442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questions in your own language — no paper forms, no office to visit, no agent to chase.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" y="3803904"/>
            <a:ext cx="2954426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913632"/>
            <a:ext cx="2954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 minutes.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051706" y="2862072"/>
            <a:ext cx="274320" cy="237744"/>
          </a:xfrm>
          <a:prstGeom prst="chevron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0890" y="1517904"/>
            <a:ext cx="3429914" cy="2926080"/>
          </a:xfrm>
          <a:prstGeom prst="roundRect">
            <a:avLst>
              <a:gd name="adj" fmla="val 2813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0890" y="1517904"/>
            <a:ext cx="3429914" cy="822960"/>
          </a:xfrm>
          <a:prstGeom prst="roundRect">
            <a:avLst>
              <a:gd name="adj" fmla="val 10000"/>
            </a:avLst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0346" y="173736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034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94122" y="1645920"/>
            <a:ext cx="2515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file 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94122" y="1975104"/>
            <a:ext cx="2515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3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paid job · what we sell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618634" y="2487168"/>
            <a:ext cx="295442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 confirms who you are. We check the business name is free, then file it with the Corporate Affairs Commission.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618634" y="3803904"/>
            <a:ext cx="2954426" cy="10973"/>
          </a:xfrm>
          <a:prstGeom prst="rect">
            <a:avLst/>
          </a:prstGeom>
          <a:solidFill>
            <a:srgbClr val="2E3A78"/>
          </a:solidFill>
          <a:ln w="12700">
            <a:solidFill>
              <a:srgbClr val="2E3A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8634" y="3913632"/>
            <a:ext cx="2954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₦7,500 service fee.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865669" y="2862072"/>
            <a:ext cx="274320" cy="237744"/>
          </a:xfrm>
          <a:prstGeom prst="chevron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94853" y="1517904"/>
            <a:ext cx="3429914" cy="2926080"/>
          </a:xfrm>
          <a:prstGeom prst="roundRect">
            <a:avLst>
              <a:gd name="adj" fmla="val 2813"/>
            </a:avLst>
          </a:prstGeom>
          <a:solidFill>
            <a:srgbClr val="E8EAF3"/>
          </a:solidFill>
          <a:ln w="9525">
            <a:solidFill>
              <a:srgbClr val="C9CE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94853" y="1517904"/>
            <a:ext cx="3429914" cy="822960"/>
          </a:xfrm>
          <a:prstGeom prst="roundRect">
            <a:avLst>
              <a:gd name="adj" fmla="val 10000"/>
            </a:avLst>
          </a:prstGeom>
          <a:solidFill>
            <a:srgbClr val="E8EAF3"/>
          </a:solidFill>
          <a:ln w="12700">
            <a:solidFill>
              <a:srgbClr val="E8EA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4309" y="1737360"/>
            <a:ext cx="384048" cy="384048"/>
          </a:xfrm>
          <a:prstGeom prst="ellipse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4309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908085" y="1645920"/>
            <a:ext cx="2515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what comes back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908085" y="1975104"/>
            <a:ext cx="2515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the certificate is yours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32597" y="2487168"/>
            <a:ext cx="295442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certificate and tax number — enough to open a business account yourself.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432597" y="3803904"/>
            <a:ext cx="2954426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32597" y="3913632"/>
            <a:ext cx="2954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further fee.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66928" y="4791456"/>
            <a:ext cx="11057839" cy="694944"/>
          </a:xfrm>
          <a:prstGeom prst="roundRect">
            <a:avLst>
              <a:gd name="adj" fmla="val 9211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791456"/>
            <a:ext cx="1050919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government's part takes as long as it takes.  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which stage the case is actually at — that is the part an agent will not give you.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3737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Rejista · investor deck · Pascal, Omar, Bello, Olu and Shamin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188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&amp; PRICING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flat fee the customer can see before they pay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1060704"/>
          </a:xfrm>
          <a:prstGeom prst="roundRect">
            <a:avLst>
              <a:gd name="adj" fmla="val 6034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81328"/>
            <a:ext cx="2240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₦17,500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172968" y="1481328"/>
            <a:ext cx="23774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5D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 the customer,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5D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 before anything is paid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06440" y="1773936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2A3568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177393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Rejista  ₦7,500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58200" y="1773936"/>
            <a:ext cx="3166567" cy="475488"/>
          </a:xfrm>
          <a:prstGeom prst="roundRect">
            <a:avLst>
              <a:gd name="adj" fmla="val 13462"/>
            </a:avLst>
          </a:prstGeom>
          <a:solidFill>
            <a:srgbClr val="2A3568"/>
          </a:solidFill>
          <a:ln w="12700">
            <a:solidFill>
              <a:srgbClr val="2A35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1773936"/>
            <a:ext cx="31665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(CAC)  ₦10,000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743200"/>
            <a:ext cx="11057839" cy="384048"/>
          </a:xfrm>
          <a:prstGeom prst="roundRect">
            <a:avLst>
              <a:gd name="adj" fmla="val 11905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2743200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0016" y="274320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11696" y="2743200"/>
            <a:ext cx="48033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receives 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127248"/>
            <a:ext cx="11057839" cy="566928"/>
          </a:xfrm>
          <a:prstGeom prst="rect">
            <a:avLst/>
          </a:prstGeom>
          <a:solidFill>
            <a:srgbClr val="E8EAF3"/>
          </a:solidFill>
          <a:ln w="12700">
            <a:solidFill>
              <a:srgbClr val="E8EA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127248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Rejista service fee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0016" y="312724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₦7,500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11696" y="3127248"/>
            <a:ext cx="48033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— for filing it and standing behind it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3683203"/>
            <a:ext cx="11057839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694176"/>
            <a:ext cx="1105783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3694176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(CAC) fee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0016" y="3694176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₦10,000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11696" y="3694176"/>
            <a:ext cx="48033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to CAC, not to us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250131"/>
            <a:ext cx="11057839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261104"/>
            <a:ext cx="11057839" cy="566928"/>
          </a:xfrm>
          <a:prstGeom prst="rect">
            <a:avLst/>
          </a:prstGeom>
          <a:solidFill>
            <a:srgbClr val="E8EAF3"/>
          </a:solidFill>
          <a:ln w="12700">
            <a:solidFill>
              <a:srgbClr val="E8EA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4261104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to the customer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00016" y="4261104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₦17,500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11696" y="4261104"/>
            <a:ext cx="48033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quoted before they pay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" y="4817059"/>
            <a:ext cx="11057839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5029200"/>
            <a:ext cx="11057839" cy="786384"/>
          </a:xfrm>
          <a:prstGeom prst="roundRect">
            <a:avLst>
              <a:gd name="adj" fmla="val 8140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5029200"/>
            <a:ext cx="1050919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charges a comparable all-in.  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compete on price. We compete on knowing the price up front, checking your own case, and getting your fee back if we fail.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6928" y="610819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as of July 2026. The CAC figure is the government's own charge and moves independently of ours.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3737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Rejista · investor deck · Pascal, Omar, Bello, Olu and Shamin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188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IDEA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is the wedge, not the business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registered trader then needs an account, a card machine, working capital and cover.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517904"/>
            <a:ext cx="5410048" cy="1572768"/>
          </a:xfrm>
          <a:prstGeom prst="roundRect">
            <a:avLst>
              <a:gd name="adj" fmla="val 5233"/>
            </a:avLst>
          </a:prstGeom>
          <a:solidFill>
            <a:srgbClr val="E8EAF3"/>
          </a:solidFill>
          <a:ln w="9525">
            <a:solidFill>
              <a:srgbClr val="C9CE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737360"/>
            <a:ext cx="384048" cy="384048"/>
          </a:xfrm>
          <a:prstGeom prst="ellipse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98448" y="1700784"/>
            <a:ext cx="444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8448" y="2029968"/>
            <a:ext cx="444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trader gets paid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2377440"/>
            <a:ext cx="493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&amp; transfer payments, POS terminal, supply to corporates.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517904"/>
            <a:ext cx="5410048" cy="1572768"/>
          </a:xfrm>
          <a:prstGeom prst="roundRect">
            <a:avLst>
              <a:gd name="adj" fmla="val 5233"/>
            </a:avLst>
          </a:prstGeom>
          <a:solidFill>
            <a:srgbClr val="E8EAF3"/>
          </a:solidFill>
          <a:ln w="9525">
            <a:solidFill>
              <a:srgbClr val="C9CE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52464" y="1737360"/>
            <a:ext cx="384048" cy="384048"/>
          </a:xfrm>
          <a:prstGeom prst="ellipse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246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946240" y="1700784"/>
            <a:ext cx="444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to grow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46240" y="2029968"/>
            <a:ext cx="444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trader buys stock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52464" y="2377440"/>
            <a:ext cx="493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Working-capital loan, equipment finance, market-association savings.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3310128"/>
            <a:ext cx="5410048" cy="1572768"/>
          </a:xfrm>
          <a:prstGeom prst="roundRect">
            <a:avLst>
              <a:gd name="adj" fmla="val 5233"/>
            </a:avLst>
          </a:prstGeom>
          <a:solidFill>
            <a:srgbClr val="E8EAF3"/>
          </a:solidFill>
          <a:ln w="9525">
            <a:solidFill>
              <a:srgbClr val="C9CE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529584"/>
            <a:ext cx="384048" cy="384048"/>
          </a:xfrm>
          <a:prstGeom prst="ellipse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98448" y="3493008"/>
            <a:ext cx="444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98448" y="3822192"/>
            <a:ext cx="444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a bad month from ending 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4169664"/>
            <a:ext cx="493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&amp; stock insurance, health cover, legal help.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14720" y="3310128"/>
            <a:ext cx="5410048" cy="1572768"/>
          </a:xfrm>
          <a:prstGeom prst="roundRect">
            <a:avLst>
              <a:gd name="adj" fmla="val 5233"/>
            </a:avLst>
          </a:prstGeom>
          <a:solidFill>
            <a:srgbClr val="E8EAF3"/>
          </a:solidFill>
          <a:ln w="9525">
            <a:solidFill>
              <a:srgbClr val="C9CE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52464" y="3529584"/>
            <a:ext cx="384048" cy="384048"/>
          </a:xfrm>
          <a:prstGeom prst="ellipse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52464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46240" y="3493008"/>
            <a:ext cx="444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right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6240" y="3822192"/>
            <a:ext cx="444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the papers valid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52464" y="4169664"/>
            <a:ext cx="493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CAC returns, tax filing, simple bookkeeping.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66928" y="5029200"/>
            <a:ext cx="11057839" cy="694944"/>
          </a:xfrm>
          <a:prstGeom prst="roundRect">
            <a:avLst>
              <a:gd name="adj" fmla="val 9211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5029200"/>
            <a:ext cx="1050919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take a share when they take one up —  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cut of their sales. The registration buys the relationship; the relationship is the business.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6928" y="610819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for now: 6 of the 12 services on the roadmap need a partner we have not signed yet.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3737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Rejista · investor deck · Pascal, Omar, Bello, Olu and Shamin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188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PILOT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weeks in one market — against thresholds set before we start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4023360" cy="3291840"/>
          </a:xfrm>
          <a:prstGeom prst="roundRect">
            <a:avLst>
              <a:gd name="adj" fmla="val 2500"/>
            </a:avLst>
          </a:prstGeom>
          <a:solidFill>
            <a:srgbClr val="E8EAF3"/>
          </a:solidFill>
          <a:ln w="9525">
            <a:solidFill>
              <a:srgbClr val="C9C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719072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run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02996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“Fake the back end, make the front end real.”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24505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245059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Balogun market, Lagos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" y="2944368"/>
            <a:ext cx="3547872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30175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100–200 registrations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" y="3511296"/>
            <a:ext cx="3547872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584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35844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" y="4078224"/>
            <a:ext cx="3547872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1513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files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4151376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operator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58207" y="1517904"/>
            <a:ext cx="6766560" cy="384048"/>
          </a:xfrm>
          <a:prstGeom prst="roundRect">
            <a:avLst>
              <a:gd name="adj" fmla="val 11905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7935" y="1517904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99855" y="1517904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58207" y="1901952"/>
            <a:ext cx="6766560" cy="566928"/>
          </a:xfrm>
          <a:prstGeom prst="rect">
            <a:avLst/>
          </a:prstGeom>
          <a:solidFill>
            <a:srgbClr val="E8EAF3"/>
          </a:solidFill>
          <a:ln w="12700">
            <a:solidFill>
              <a:srgbClr val="E8EA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7935" y="1901952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form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99855" y="1901952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40%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58207" y="2457907"/>
            <a:ext cx="6766560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58207" y="2468880"/>
            <a:ext cx="6766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7935" y="2468880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pay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99855" y="246888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58207" y="3024835"/>
            <a:ext cx="6766560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58207" y="3035808"/>
            <a:ext cx="6766560" cy="566928"/>
          </a:xfrm>
          <a:prstGeom prst="rect">
            <a:avLst/>
          </a:prstGeom>
          <a:solidFill>
            <a:srgbClr val="E8EAF3"/>
          </a:solidFill>
          <a:ln w="12700">
            <a:solidFill>
              <a:srgbClr val="E8EA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7935" y="3035808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approves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99855" y="3035808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58207" y="3591763"/>
            <a:ext cx="6766560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58207" y="3602736"/>
            <a:ext cx="6766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67935" y="3602736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delivered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899855" y="3602736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 days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58207" y="4158691"/>
            <a:ext cx="6766560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58207" y="4169664"/>
            <a:ext cx="6766560" cy="566928"/>
          </a:xfrm>
          <a:prstGeom prst="rect">
            <a:avLst/>
          </a:prstGeom>
          <a:solidFill>
            <a:srgbClr val="E8EAF3"/>
          </a:solidFill>
          <a:ln w="12700">
            <a:solidFill>
              <a:srgbClr val="E8EA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7935" y="4169664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refer a friend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899855" y="4169664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858207" y="4725619"/>
            <a:ext cx="6766560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" y="5138928"/>
            <a:ext cx="11057839" cy="694944"/>
          </a:xfrm>
          <a:prstGeom prst="roundRect">
            <a:avLst>
              <a:gd name="adj" fmla="val 9211"/>
            </a:avLst>
          </a:prstGeom>
          <a:solidFill>
            <a:srgbClr val="E8EAF3"/>
          </a:solidFill>
          <a:ln w="12700">
            <a:solidFill>
              <a:srgbClr val="E8EA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" y="5138928"/>
            <a:ext cx="1050919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these and we do not raise.  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have learned it for a few thousand dollars instead of several hundred thousand.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66928" y="610819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pre-registered: they are written here so they cannot be revised downward after the numbers land.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3737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Rejista · investor deck · Pascal, Omar, Bello, Olu and Shamin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188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WE LEAD WITH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 could end this — neither is answered yet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5410048" cy="3200400"/>
          </a:xfrm>
          <a:prstGeom prst="roundRect">
            <a:avLst>
              <a:gd name="adj" fmla="val 2571"/>
            </a:avLst>
          </a:prstGeom>
          <a:solidFill>
            <a:srgbClr val="E8EAF3"/>
          </a:solidFill>
          <a:ln w="9525">
            <a:solidFill>
              <a:srgbClr val="C9CE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737360"/>
            <a:ext cx="384048" cy="384048"/>
          </a:xfrm>
          <a:prstGeom prst="ellipse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98448" y="1700784"/>
            <a:ext cx="444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file on someone's behalf at all?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98448" y="2048256"/>
            <a:ext cx="444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that stops everything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468880"/>
            <a:ext cx="493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CAC filing API exists. Third parties resell lookup of businesses that already exist, not filing. The route is an accredited channel.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" y="3584448"/>
            <a:ext cx="4934560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712464"/>
            <a:ext cx="4934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one — before another line of code. If the answer is no, this stops.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4720" y="1517904"/>
            <a:ext cx="5410048" cy="3200400"/>
          </a:xfrm>
          <a:prstGeom prst="roundRect">
            <a:avLst>
              <a:gd name="adj" fmla="val 2571"/>
            </a:avLst>
          </a:prstGeom>
          <a:solidFill>
            <a:srgbClr val="E8EAF3"/>
          </a:solidFill>
          <a:ln w="9525">
            <a:solidFill>
              <a:srgbClr val="C9CE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2464" y="1737360"/>
            <a:ext cx="384048" cy="384048"/>
          </a:xfrm>
          <a:prstGeom prst="ellipse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246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946240" y="1700784"/>
            <a:ext cx="444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being registered actually help?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46240" y="2048256"/>
            <a:ext cx="444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that decides whether it was worth 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52464" y="2468880"/>
            <a:ext cx="493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case assumes a registered trader can then reach credit and contracts. Research on formalisation is mixed.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52464" y="3584448"/>
            <a:ext cx="4934560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2464" y="3712464"/>
            <a:ext cx="4934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 every applicant at 60 days whether it got them anything real — and we publish the answer either way.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4956048"/>
            <a:ext cx="11057839" cy="786384"/>
          </a:xfrm>
          <a:prstGeom prst="roundRect">
            <a:avLst>
              <a:gd name="adj" fmla="val 8140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956048"/>
            <a:ext cx="1050919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answers are dated, not deferred.  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 route is confirmed in week one; the benefit question is measured at 60 days and published either way.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3737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Rejista · investor deck · Pascal, Omar, Bello, Olu and Shamin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188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that can kill this has one named owner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969264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Pascal, Omar, Bello, Olu and Shamin — e-Governance Practicum (ICT4D)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11057839" cy="384048"/>
          </a:xfrm>
          <a:prstGeom prst="roundRect">
            <a:avLst>
              <a:gd name="adj" fmla="val 11905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57276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54096" y="1572768"/>
            <a:ext cx="52605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34095" y="157276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 on the hook for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1956816"/>
            <a:ext cx="11057839" cy="585216"/>
          </a:xfrm>
          <a:prstGeom prst="rect">
            <a:avLst/>
          </a:prstGeom>
          <a:solidFill>
            <a:srgbClr val="E8EAF3"/>
          </a:solidFill>
          <a:ln w="12700">
            <a:solidFill>
              <a:srgbClr val="E8EA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1956816"/>
            <a:ext cx="2157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54096" y="1956816"/>
            <a:ext cx="526054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(CAC path), go / no-go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34095" y="1956816"/>
            <a:ext cx="2980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week-one answer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531059"/>
            <a:ext cx="11057839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542032"/>
            <a:ext cx="11057839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2542032"/>
            <a:ext cx="2157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54096" y="2542032"/>
            <a:ext cx="526054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tech build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34095" y="2542032"/>
            <a:ext cx="2980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form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3116275"/>
            <a:ext cx="11057839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127248"/>
            <a:ext cx="11057839" cy="585216"/>
          </a:xfrm>
          <a:prstGeom prst="rect">
            <a:avLst/>
          </a:prstGeom>
          <a:solidFill>
            <a:srgbClr val="E8EAF3"/>
          </a:solidFill>
          <a:ln w="12700">
            <a:solidFill>
              <a:srgbClr val="E8EA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127248"/>
            <a:ext cx="2157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54096" y="3127248"/>
            <a:ext cx="526054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field agent, filing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34095" y="3127248"/>
            <a:ext cx="2980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filing in the pilot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3701491"/>
            <a:ext cx="11057839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712464"/>
            <a:ext cx="11057839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3712464"/>
            <a:ext cx="2157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54096" y="3712464"/>
            <a:ext cx="526054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unit economics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34095" y="3712464"/>
            <a:ext cx="2980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₦7,500 holding up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" y="4286707"/>
            <a:ext cx="11057839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4297680"/>
            <a:ext cx="11057839" cy="585216"/>
          </a:xfrm>
          <a:prstGeom prst="rect">
            <a:avLst/>
          </a:prstGeom>
          <a:solidFill>
            <a:srgbClr val="E8EAF3"/>
          </a:solidFill>
          <a:ln w="12700">
            <a:solidFill>
              <a:srgbClr val="E8EA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4297680"/>
            <a:ext cx="21579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Shamin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054096" y="4297680"/>
            <a:ext cx="526054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(NDPA, DPIA, consent)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34095" y="4297680"/>
            <a:ext cx="29809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handled lawfully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6928" y="4871923"/>
            <a:ext cx="11057839" cy="10973"/>
          </a:xfrm>
          <a:prstGeom prst="rect">
            <a:avLst/>
          </a:prstGeom>
          <a:solidFill>
            <a:srgbClr val="C9CEE2"/>
          </a:solidFill>
          <a:ln w="12700">
            <a:solidFill>
              <a:srgbClr val="C9CE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" y="5138928"/>
            <a:ext cx="11057839" cy="786384"/>
          </a:xfrm>
          <a:prstGeom prst="roundRect">
            <a:avLst>
              <a:gd name="adj" fmla="val 8140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5138928"/>
            <a:ext cx="1050919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the government.  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Rejista is a filing agent — the certificate is issued by the Corporate Affairs Commission. You could file it yourself; what you pay us for is not having to.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3737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Rejista · investor deck · Pascal, Omar, Bello, Olu and Shamin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27487" y="64373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1887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3840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built, what it costs, and what we want from this room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9525">
            <a:solidFill>
              <a:srgbClr val="C9C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81328"/>
            <a:ext cx="1050919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do not compete on price. We compete on knowing the price up front, checking your own case, and getting your fee back if we fail.”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615184"/>
            <a:ext cx="2304288" cy="2286000"/>
          </a:xfrm>
          <a:prstGeom prst="roundRect">
            <a:avLst>
              <a:gd name="adj" fmla="val 3600"/>
            </a:avLst>
          </a:prstGeom>
          <a:solidFill>
            <a:srgbClr val="E8EAF3"/>
          </a:solidFill>
          <a:ln w="9525">
            <a:solidFill>
              <a:srgbClr val="C9CE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2834640"/>
            <a:ext cx="384048" cy="384048"/>
          </a:xfrm>
          <a:prstGeom prst="ellipse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6384" y="332841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 into CAC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" y="363931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week-one question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6384" y="3986784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an accredited filing channel. If the answer is no, this stops.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90672" y="2615184"/>
            <a:ext cx="2304288" cy="2286000"/>
          </a:xfrm>
          <a:prstGeom prst="roundRect">
            <a:avLst>
              <a:gd name="adj" fmla="val 3600"/>
            </a:avLst>
          </a:prstGeom>
          <a:solidFill>
            <a:srgbClr val="E8EAF3"/>
          </a:solidFill>
          <a:ln w="9525">
            <a:solidFill>
              <a:srgbClr val="C9CE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128" y="2834640"/>
            <a:ext cx="384048" cy="384048"/>
          </a:xfrm>
          <a:prstGeom prst="ellipse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10128" y="332841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10128" y="363931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weeks, one market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10128" y="3986784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to file 100–200 registrations by hand in Balogun and measure them against the five thresholds.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14416" y="2615184"/>
            <a:ext cx="2304288" cy="2286000"/>
          </a:xfrm>
          <a:prstGeom prst="roundRect">
            <a:avLst>
              <a:gd name="adj" fmla="val 3600"/>
            </a:avLst>
          </a:prstGeom>
          <a:solidFill>
            <a:srgbClr val="E8EAF3"/>
          </a:solidFill>
          <a:ln w="9525">
            <a:solidFill>
              <a:srgbClr val="C9CE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33872" y="2834640"/>
            <a:ext cx="384048" cy="384048"/>
          </a:xfrm>
          <a:prstGeom prst="ellipse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33872" y="332841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read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33872" y="3639312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raise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833872" y="3986784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which threshold you would not accept. We publish the 60-day answer either way.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38160" y="2615184"/>
            <a:ext cx="3486607" cy="2286000"/>
          </a:xfrm>
          <a:prstGeom prst="roundRect">
            <a:avLst>
              <a:gd name="adj" fmla="val 3600"/>
            </a:avLst>
          </a:prstGeom>
          <a:solidFill>
            <a:srgbClr val="E8EAF3"/>
          </a:solidFill>
          <a:ln w="9525">
            <a:solidFill>
              <a:srgbClr val="C9CEE2"/>
            </a:solidFill>
            <a:prstDash val="solid"/>
          </a:ln>
        </p:spPr>
      </p:sp>
      <p:pic>
        <p:nvPicPr>
          <p:cNvPr id="27" name="Image 0" descr="/mnt/user-data/uploads/ICT4D-MarketResearch/public/print/rejista-qr-black@2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2804" y="2834640"/>
            <a:ext cx="1417320" cy="14173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321040" y="4334256"/>
            <a:ext cx="31208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rejista-ten.vercel.app/register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321040" y="4626864"/>
            <a:ext cx="31208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before you leave — no payment taken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66928" y="5138928"/>
            <a:ext cx="11057839" cy="786384"/>
          </a:xfrm>
          <a:prstGeom prst="roundRect">
            <a:avLst>
              <a:gd name="adj" fmla="val 8140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41248" y="5138928"/>
            <a:ext cx="6949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Built: the form. Cost to the customer: ₦17,500 flat.  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Wanted: the CAC route confirmed in week one.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144207" y="5138928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5D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Yaba, Lagos, Nigeria · rejista-ten.vercel.app/start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66928" y="610819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contact details — to be replaced before launch.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Rejista — investor deck</dc:title>
  <dc:subject>PptxGenJS Presentation</dc:subject>
  <dc:creator>Pascal, Omar, Bello, Olu and Shamin</dc:creator>
  <cp:lastModifiedBy>Pascal, Omar, Bello, Olu and Shamin</cp:lastModifiedBy>
  <cp:revision>1</cp:revision>
  <dcterms:created xsi:type="dcterms:W3CDTF">2026-07-31T16:05:54Z</dcterms:created>
  <dcterms:modified xsi:type="dcterms:W3CDTF">2026-07-31T16:05:54Z</dcterms:modified>
</cp:coreProperties>
</file>